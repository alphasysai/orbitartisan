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INVESTISSEURS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Soline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8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bureau digital de l’artisan du bâtiment — avec une secrétaire IA qui ne dort jamais.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454335" y="822960"/>
            <a:ext cx="914400" cy="91440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6" name="Image 0" descr="/sessions/upbeat-quirky-hypatia/mnt/outputs/soline-decks/assets/tool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941832"/>
            <a:ext cx="676656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solinebtp.fr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métier essentiel, encore mal outillé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49642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clo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458" y="2159356"/>
            <a:ext cx="710489" cy="71048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172968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heures perdues en administratif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77640"/>
            <a:ext cx="23621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Devis, relances et suivi grignotent le temps de chantier, chaque semaine.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60406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1" name="Image 1" descr="/sessions/upbeat-quirky-hypatia/mnt/outputs/soline-decks/assets/cha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221" y="2159356"/>
            <a:ext cx="710489" cy="71048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9404" y="3172968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outils dispersés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59404" y="3977640"/>
            <a:ext cx="23621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WhatsApp, agenda papier et logiciel de comptabilité à part, sans lien entre eux.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071170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5" name="Image 2" descr="/sessions/upbeat-quirky-hypatia/mnt/outputs/soline-decks/assets/warning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985" y="2159356"/>
            <a:ext cx="710489" cy="71048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70168" y="3172968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réforme qui arrive vite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70168" y="3977640"/>
            <a:ext cx="23621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facturation électronique devient obligatoire dès 2026, et peu d’artisans s’y sentent prêts.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981933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9" name="Image 3" descr="/sessions/upbeat-quirky-hypatia/mnt/outputs/soline-decks/assets/euro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749" y="2159356"/>
            <a:ext cx="710489" cy="71048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280931" y="3172968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impayés qui fragilisent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9280931" y="3977640"/>
            <a:ext cx="23621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un client reste chronophage, inconfortable, et souvent repoussé.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une charge mentale permanente, en plus du métier — et un secteur qui a besoin d’être mieux outillé et accompagné.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DÉCLENCHEUR RÉGLEMENTAIRE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facturation électronique devient obligatoire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72888" cy="3657600"/>
          </a:xfrm>
          <a:prstGeom prst="roundRect">
            <a:avLst>
              <a:gd name="adj" fmla="val 2000"/>
            </a:avLst>
          </a:prstGeom>
          <a:solidFill>
            <a:srgbClr val="EFEF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454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A4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1er septembre 2026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obligatoire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45413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entreprises, y compris micro-entrepreneurs, doivent pouvoir recevoir une facture électronique. Les grandes entreprises et ETI doivent déjà émettre.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70168" y="1920240"/>
            <a:ext cx="5272888" cy="3657600"/>
          </a:xfrm>
          <a:prstGeom prst="roundRect">
            <a:avLst>
              <a:gd name="adj" fmla="val 2000"/>
            </a:avLst>
          </a:prstGeom>
          <a:solidFill>
            <a:srgbClr val="EFEF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35928" y="2286000"/>
            <a:ext cx="454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A4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1er septembre 2027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735928" y="288036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 généralisée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735928" y="3383280"/>
            <a:ext cx="45413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L’obligation d’émission s’étend à toutes les entreprises françaises, PME et micro-entreprises comprises. Le e-reporting suit le même calendrier.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calendrier officiel de la réforme de la facturation électronique (DGFiP).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SECTEUR EN CHIFFRES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marché immense, mais un tissu fragile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332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9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440 000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33323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du bâtiment en France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29658" y="2651760"/>
            <a:ext cx="3332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9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94 %</a:t>
            </a:r>
            <a:endParaRPr lang="en-US" sz="5800" dirty="0"/>
          </a:p>
        </p:txBody>
      </p:sp>
      <p:sp>
        <p:nvSpPr>
          <p:cNvPr id="9" name="Text 7"/>
          <p:cNvSpPr txBox="1"/>
          <p:nvPr/>
        </p:nvSpPr>
        <p:spPr>
          <a:xfrm>
            <a:off x="4429658" y="3749040"/>
            <a:ext cx="33323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 des TPE artisanales de moins de 10 salariés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310677" y="2651760"/>
            <a:ext cx="3332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9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-1,5 %</a:t>
            </a:r>
            <a:endParaRPr lang="en-US" sz="5800" dirty="0"/>
          </a:p>
        </p:txBody>
      </p:sp>
      <p:sp>
        <p:nvSpPr>
          <p:cNvPr id="11" name="Text 9"/>
          <p:cNvSpPr txBox="1"/>
          <p:nvPr/>
        </p:nvSpPr>
        <p:spPr>
          <a:xfrm>
            <a:off x="8310677" y="3749040"/>
            <a:ext cx="33323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d’activité au 1er trimestre 2026 (glissement annuel)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vivier considérable pour un outil de gestion — mais un secteur qui reste largement sous-équipé face à ses obligations administratives.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FFB (2025), CERC — activité artisanale du bâtiment T1 2026.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Soline : un seul outil pour tout gérer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85998" y="2217420"/>
            <a:ext cx="1051560" cy="10515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invoic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700" y="2354123"/>
            <a:ext cx="778154" cy="7781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11480" y="3456432"/>
            <a:ext cx="22005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&amp; factures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78033" y="2217420"/>
            <a:ext cx="1051560" cy="10515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0" name="Image 1" descr="/sessions/upbeat-quirky-hypatia/mnt/outputs/soline-decks/assets/cha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735" y="2354123"/>
            <a:ext cx="778154" cy="7781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03515" y="3456432"/>
            <a:ext cx="22005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570068" y="2217420"/>
            <a:ext cx="1051560" cy="10515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3" name="Image 2" descr="/sessions/upbeat-quirky-hypatia/mnt/outputs/soline-decks/assets/glob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770" y="2354123"/>
            <a:ext cx="778154" cy="77815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95550" y="3456432"/>
            <a:ext cx="22005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en ligne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widget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862103" y="2217420"/>
            <a:ext cx="1051560" cy="10515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6" name="Image 3" descr="/sessions/upbeat-quirky-hypatia/mnt/outputs/soline-decks/assets/headset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8805" y="2354123"/>
            <a:ext cx="778154" cy="77815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87585" y="3456432"/>
            <a:ext cx="22005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vocale IA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10154138" y="2217420"/>
            <a:ext cx="1051560" cy="10515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9" name="Image 4" descr="/sessions/upbeat-quirky-hypatia/mnt/outputs/soline-decks/assets/gavel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0840" y="2354123"/>
            <a:ext cx="778154" cy="77815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579620" y="3456432"/>
            <a:ext cx="22005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Recouvrement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impayés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1371600" y="502920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WhatsApp, agenda papier et logiciel de compta séparé : remplacés par une seule application, sur téléphone comme sur ordinateur.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de l’artisan, de bout en bout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09442" y="2651760"/>
            <a:ext cx="731520" cy="73152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09442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en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minutes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401763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19765" y="2651760"/>
            <a:ext cx="731520" cy="73152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19765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858963" y="356616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au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par lien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712086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730088" y="2651760"/>
            <a:ext cx="731520" cy="73152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30088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169286" y="356616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022409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040411" y="2651760"/>
            <a:ext cx="731520" cy="73152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0411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479609" y="356616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Factur-X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générée automatiquement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332732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350734" y="2651760"/>
            <a:ext cx="731520" cy="73152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350734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789932" y="356616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carte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93776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facture reste impayée, Soline enclenche la relance : mise en demeure LRAR, puis cabinet de recouvrement partenaire si nécessaire — piloté depuis la fiche facture.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du client final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49642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458" y="2159356"/>
            <a:ext cx="710489" cy="71048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172968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Accepter ou refuser un devis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886200"/>
            <a:ext cx="23621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clic, depuis son espace personnel, sans échange de papier.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60406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1" name="Image 1" descr="/sessions/upbeat-quirky-hypatia/mnt/outputs/soline-decks/assets/eur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221" y="2159356"/>
            <a:ext cx="710489" cy="71048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9404" y="3172968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Payer en ligne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9404" y="3886200"/>
            <a:ext cx="23621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bancaire, via Stripe, en toute sécurité.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071170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5" name="Image 2" descr="/sessions/upbeat-quirky-hypatia/mnt/outputs/soline-decks/assets/calendar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985" y="2159356"/>
            <a:ext cx="710489" cy="71048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70168" y="3172968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Prendre rendez-vous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70168" y="3886200"/>
            <a:ext cx="23621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échanger directement par messagerie avec l’artisan.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981933" y="203454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9" name="Image 3" descr="/sessions/upbeat-quirky-hypatia/mnt/outputs/soline-decks/assets/search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749" y="2159356"/>
            <a:ext cx="710489" cy="71048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280931" y="3172968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Trouver un artisan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9280931" y="3886200"/>
            <a:ext cx="23621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géolocalisée, par métier, près de chez soi.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1097280" y="553212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garde la main sur ses devis, ses paiements et ses rendez-vous — sans jamais avoir besoin d’appeler.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DE CROISSANCE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qualification de leads par 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288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prospect décrit son besoin en chat avec l’IA, sans créer de compte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7860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joint 2 à 3 photos ou une courte vidéo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19856"/>
            <a:ext cx="365760" cy="36576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328416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indique sa localisation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169664"/>
            <a:ext cx="365760" cy="36576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07822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reçoit une fourchette de prix indicative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365760" cy="365760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919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82803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 transmet le dossier à 2 à 3 artisans compatibles, jamais plus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06640" y="1874520"/>
            <a:ext cx="4206240" cy="3657600"/>
          </a:xfrm>
          <a:prstGeom prst="roundRect">
            <a:avLst>
              <a:gd name="adj" fmla="val 2000"/>
            </a:avLst>
          </a:prstGeom>
          <a:solidFill>
            <a:srgbClr val="1C1B1A"/>
          </a:solidFill>
          <a:ln/>
        </p:spPr>
      </p:sp>
      <p:sp>
        <p:nvSpPr>
          <p:cNvPr id="22" name="Shape 20"/>
          <p:cNvSpPr/>
          <p:nvPr/>
        </p:nvSpPr>
        <p:spPr>
          <a:xfrm>
            <a:off x="9075420" y="2125980"/>
            <a:ext cx="868680" cy="86868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23" name="Image 0" descr="/sessions/upbeat-quirky-hypatia/mnt/outputs/soline-decks/assets/targ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348" y="2238908"/>
            <a:ext cx="642823" cy="642823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589520" y="3200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Jamais plus de 2 à 3 artisans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589520" y="37947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mode enchère : le lead qualifié arrive avec photos, budget indicatif et un brouillon de devis déjà prêt. L’artisan n’a plus qu’à ajuster et envoyer.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 AU TÉLÉPHONE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secrétaire qui ne dort jamais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43000" y="2148840"/>
            <a:ext cx="1737360" cy="17373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heads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857" y="2374697"/>
            <a:ext cx="1285646" cy="128564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474720" y="20116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l’artisan est sur un chantier et ne peut pas décrocher, Soline répond à sa place.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292608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Branchée sur le numéro professionnel de l’artisan (Twilio), </a:t>
            </a:r>
            <a:pPr indent="0" marL="0">
              <a:buNone/>
            </a:pPr>
            <a:r>
              <a:rPr lang="en-US" sz="1500" b="1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l’agent vocal (ElevenLabs) accueille l’appelant, comprend sa demande, et peut préparer un brouillon de devis</a:t>
            </a:r>
            <a:pPr indent="0" marL="0">
              <a:buNone/>
            </a:pPr>
            <a:r>
              <a:rPr lang="en-US" sz="15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que l’artisan valide ensuite depuis son téléphone.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42976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plan inclut un quota de minutes. Au-delà, l’artisan choisit : facturation complémentaire, ou appels coupés.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conformité, sans y penser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332378" cy="3429000"/>
          </a:xfrm>
          <a:prstGeom prst="roundRect">
            <a:avLst>
              <a:gd name="adj" fmla="val 2195"/>
            </a:avLst>
          </a:prstGeom>
          <a:solidFill>
            <a:srgbClr val="EFEFED"/>
          </a:solidFill>
          <a:ln/>
        </p:spPr>
      </p:sp>
      <p:sp>
        <p:nvSpPr>
          <p:cNvPr id="7" name="Shape 5"/>
          <p:cNvSpPr/>
          <p:nvPr/>
        </p:nvSpPr>
        <p:spPr>
          <a:xfrm>
            <a:off x="1803349" y="2103120"/>
            <a:ext cx="822960" cy="8229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8" name="Image 0" descr="/sessions/upbeat-quirky-hypatia/mnt/outputs/soline-decks/assets/invoic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0334" y="2210105"/>
            <a:ext cx="608990" cy="6089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06324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Factur-X natif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11880"/>
            <a:ext cx="27837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structuré, conforme, transmis à la Plateforme Agréée.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29658" y="1920240"/>
            <a:ext cx="3332378" cy="3429000"/>
          </a:xfrm>
          <a:prstGeom prst="roundRect">
            <a:avLst>
              <a:gd name="adj" fmla="val 2195"/>
            </a:avLst>
          </a:prstGeom>
          <a:solidFill>
            <a:srgbClr val="EFEFED"/>
          </a:solidFill>
          <a:ln/>
        </p:spPr>
      </p:sp>
      <p:sp>
        <p:nvSpPr>
          <p:cNvPr id="12" name="Shape 9"/>
          <p:cNvSpPr/>
          <p:nvPr/>
        </p:nvSpPr>
        <p:spPr>
          <a:xfrm>
            <a:off x="5684368" y="2103120"/>
            <a:ext cx="822960" cy="8229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3" name="Image 1" descr="/sessions/upbeat-quirky-hypatia/mnt/outputs/soline-decks/assets/shiel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352" y="2210105"/>
            <a:ext cx="608990" cy="6089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58258" y="306324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E-invoicing &amp; e-reporting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703978" y="3611880"/>
            <a:ext cx="27837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pour les échéances de septembre 2026 et 2027.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310677" y="1920240"/>
            <a:ext cx="3332378" cy="3429000"/>
          </a:xfrm>
          <a:prstGeom prst="roundRect">
            <a:avLst>
              <a:gd name="adj" fmla="val 2195"/>
            </a:avLst>
          </a:prstGeom>
          <a:solidFill>
            <a:srgbClr val="EFEFED"/>
          </a:solidFill>
          <a:ln/>
        </p:spPr>
      </p:sp>
      <p:sp>
        <p:nvSpPr>
          <p:cNvPr id="17" name="Shape 13"/>
          <p:cNvSpPr/>
          <p:nvPr/>
        </p:nvSpPr>
        <p:spPr>
          <a:xfrm>
            <a:off x="9565386" y="2103120"/>
            <a:ext cx="822960" cy="82296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8" name="Image 2" descr="/sessions/upbeat-quirky-hypatia/mnt/outputs/soline-decks/assets/gavel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371" y="2210105"/>
            <a:ext cx="608990" cy="6089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39277" y="306324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Recouvrement encadré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8584997" y="3611880"/>
            <a:ext cx="27837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demeure LRAR, puis cabinet partenaire si nécessaire.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L’artisan n’a pas à choisir entre outil métier et conformité légale : les deux sont dans le même flux.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offres, un abonnement mensuel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347472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4E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mensuel HT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44,90 €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69,90 €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99,90 €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complet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Recouvrement LRAR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mois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mois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mois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Soline (minutes / mois)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min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min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A4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jours d’essai gratuit, sans engagement.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forces convergent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11909" y="210312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warnin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668" y="2233879"/>
            <a:ext cx="744322" cy="7443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29184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réglementation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886200"/>
            <a:ext cx="33323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L’obligation de facturation électronique (2026-2027) force l’adoption d’un outil conforme.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592928" y="210312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1" name="Image 1" descr="/sessions/upbeat-quirky-hypatia/mnt/outputs/soline-decks/assets/robo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687" y="2233879"/>
            <a:ext cx="744322" cy="7443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29658" y="329184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L’IA générative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29658" y="3886200"/>
            <a:ext cx="33323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Assez mature et abordable pour qualifier un besoin, chiffrer une demande, et répondre au téléphone.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9473946" y="2103120"/>
            <a:ext cx="1005840" cy="10058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5" name="Image 2" descr="/sessions/upbeat-quirky-hypatia/mnt/outputs/soline-decks/assets/clo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705" y="2233879"/>
            <a:ext cx="744322" cy="74432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10677" y="329184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retard du secteur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10677" y="3886200"/>
            <a:ext cx="33323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majorité d’artisans gèrent encore leur activité sans outil de gestion unifié.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potentiel large, une conquête ciblée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52448" y="1965960"/>
            <a:ext cx="8686800" cy="1234440"/>
          </a:xfrm>
          <a:prstGeom prst="roundRect">
            <a:avLst>
              <a:gd name="adj" fmla="val 5185"/>
            </a:avLst>
          </a:prstGeom>
          <a:solidFill>
            <a:srgbClr val="EFEF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72488" y="2075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072488" y="24048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440 000 entreprises du bâtiment en France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2072488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94 % de taille artisanale (FFB, 2025)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86888" y="3410712"/>
            <a:ext cx="6217920" cy="1234440"/>
          </a:xfrm>
          <a:prstGeom prst="roundRect">
            <a:avLst>
              <a:gd name="adj" fmla="val 5185"/>
            </a:avLst>
          </a:prstGeom>
          <a:solidFill>
            <a:srgbClr val="C97A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06928" y="3520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06928" y="384962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Artisans TPE en transition numérique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3306928" y="42793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outil de gestion tout-en-un — hypothèse à valider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75608" y="4855464"/>
            <a:ext cx="3840480" cy="1234440"/>
          </a:xfrm>
          <a:prstGeom prst="roundRect">
            <a:avLst>
              <a:gd name="adj" fmla="val 5185"/>
            </a:avLst>
          </a:prstGeom>
          <a:solidFill>
            <a:srgbClr val="AA4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95648" y="4965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95648" y="52943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d’acquisition à 3 ans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4495648" y="5724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et méthode à préciser avec les fondateurs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PAYSAGE CONCURRENTIEL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logiciels de gestion, pas des plateformes d’acquisition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4114800"/>
        </p:xfrm>
        <a:graphic>
          <a:graphicData uri="http://schemas.openxmlformats.org/drawingml/2006/table">
            <a:tbl>
              <a:tblPr/>
              <a:tblGrid>
                <a:gridCol w="2377440"/>
                <a:gridCol w="87169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Positionnement observé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 du marché, simplicité d’usage, passe par une Plateforme Agréée partenaire.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Tolteck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Acteur récent, Plateforme Agréée intégrée annoncée sans surcoût.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Batappli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Chiffrage détaillé ouvrage par ouvrage, gestion des stocks de matériaux.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Axonaut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ERP/CRM généraliste hors bâtiment, lui-même Plateforme Agréée pour le Factur-X.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4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 à la gestion conforme un canal d’acquisition de leads qualifiés par IA et une secrétaire vocale — deux briques que ces acteurs ne proposent pas, à notre connaissance.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4E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DIFFÉRENCIATION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sommes seuls à réunir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430704" cy="3749040"/>
          </a:xfrm>
          <a:prstGeom prst="roundRect">
            <a:avLst>
              <a:gd name="adj" fmla="val 3009"/>
            </a:avLst>
          </a:prstGeom>
          <a:solidFill>
            <a:srgbClr val="EFEFED"/>
          </a:solidFill>
          <a:ln/>
        </p:spPr>
      </p:sp>
      <p:sp>
        <p:nvSpPr>
          <p:cNvPr id="7" name="Shape 5"/>
          <p:cNvSpPr/>
          <p:nvPr/>
        </p:nvSpPr>
        <p:spPr>
          <a:xfrm>
            <a:off x="1375372" y="2125980"/>
            <a:ext cx="777240" cy="7772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8" name="Image 0" descr="/sessions/upbeat-quirky-hypatia/mnt/outputs/soline-decks/assets/targ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413" y="2227021"/>
            <a:ext cx="575158" cy="57515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301752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 public de leads IA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49040"/>
            <a:ext cx="1973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par chat, photos et géolocalisation, avec dispatch automatique à 2-3 artisans.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36544" y="1920240"/>
            <a:ext cx="2430704" cy="3749040"/>
          </a:xfrm>
          <a:prstGeom prst="roundRect">
            <a:avLst>
              <a:gd name="adj" fmla="val 3009"/>
            </a:avLst>
          </a:prstGeom>
          <a:solidFill>
            <a:srgbClr val="EFEFED"/>
          </a:solidFill>
          <a:ln/>
        </p:spPr>
      </p:sp>
      <p:sp>
        <p:nvSpPr>
          <p:cNvPr id="12" name="Shape 9"/>
          <p:cNvSpPr/>
          <p:nvPr/>
        </p:nvSpPr>
        <p:spPr>
          <a:xfrm>
            <a:off x="4263276" y="2125980"/>
            <a:ext cx="777240" cy="7772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3" name="Image 1" descr="/sessions/upbeat-quirky-hypatia/mnt/outputs/soline-decks/assets/headse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317" y="2227021"/>
            <a:ext cx="575158" cy="57515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19424" y="301752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Secrétaire vocale intégrée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65144" y="3749040"/>
            <a:ext cx="1973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service, pas juste un logiciel : Soline répond au téléphone à la place de l’artisan.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24448" y="1920240"/>
            <a:ext cx="2430704" cy="3749040"/>
          </a:xfrm>
          <a:prstGeom prst="roundRect">
            <a:avLst>
              <a:gd name="adj" fmla="val 3009"/>
            </a:avLst>
          </a:prstGeom>
          <a:solidFill>
            <a:srgbClr val="EFEFED"/>
          </a:solidFill>
          <a:ln/>
        </p:spPr>
      </p:sp>
      <p:sp>
        <p:nvSpPr>
          <p:cNvPr id="17" name="Shape 13"/>
          <p:cNvSpPr/>
          <p:nvPr/>
        </p:nvSpPr>
        <p:spPr>
          <a:xfrm>
            <a:off x="7151180" y="2125980"/>
            <a:ext cx="777240" cy="7772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8" name="Image 2" descr="/sessions/upbeat-quirky-hypatia/mnt/outputs/soline-decks/assets/gavel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221" y="2227021"/>
            <a:ext cx="575158" cy="57515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07328" y="301752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Recouvrement natif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553048" y="3749040"/>
            <a:ext cx="1973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relance des impayés est pilotée depuis l’application, pas sous-traitée à part.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212351" y="1920240"/>
            <a:ext cx="2430704" cy="3749040"/>
          </a:xfrm>
          <a:prstGeom prst="roundRect">
            <a:avLst>
              <a:gd name="adj" fmla="val 3009"/>
            </a:avLst>
          </a:prstGeom>
          <a:solidFill>
            <a:srgbClr val="EFEFED"/>
          </a:solidFill>
          <a:ln/>
        </p:spPr>
      </p:sp>
      <p:sp>
        <p:nvSpPr>
          <p:cNvPr id="22" name="Shape 17"/>
          <p:cNvSpPr/>
          <p:nvPr/>
        </p:nvSpPr>
        <p:spPr>
          <a:xfrm>
            <a:off x="10039083" y="2125980"/>
            <a:ext cx="777240" cy="77724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23" name="Image 3" descr="/sessions/upbeat-quirky-hypatia/mnt/outputs/soline-decks/assets/shiel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124" y="2227021"/>
            <a:ext cx="575158" cy="57515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95231" y="301752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 clé en main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9440951" y="3749040"/>
            <a:ext cx="1973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pour les échéances 2026-2027, sans configuration complexe.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D’AVANCEMENT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produit fonctionnel, avant commercialisation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21208" y="2075688"/>
            <a:ext cx="457200" cy="457200"/>
          </a:xfrm>
          <a:prstGeom prst="ellipse">
            <a:avLst/>
          </a:prstGeom>
          <a:solidFill>
            <a:srgbClr val="3D6B4F"/>
          </a:solidFill>
          <a:ln/>
        </p:spPr>
      </p:sp>
      <p:pic>
        <p:nvPicPr>
          <p:cNvPr id="7" name="Image 0" descr="/sessions/upbeat-quirky-hypatia/mnt/outputs/soline-decks/assets/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2135124"/>
            <a:ext cx="338328" cy="3383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210312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complète artisan : devis, factures Factur-X, rendez-vous, messagerie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1208" y="2944368"/>
            <a:ext cx="457200" cy="457200"/>
          </a:xfrm>
          <a:prstGeom prst="ellipse">
            <a:avLst/>
          </a:prstGeom>
          <a:solidFill>
            <a:srgbClr val="3D6B4F"/>
          </a:solidFill>
          <a:ln/>
        </p:spPr>
      </p:sp>
      <p:pic>
        <p:nvPicPr>
          <p:cNvPr id="10" name="Image 1" descr="/sessions/upbeat-quirky-hypatia/mnt/outputs/soline-decks/assets/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3003804"/>
            <a:ext cx="338328" cy="3383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297180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publique par artisan, avec widget embarquable sur son propre site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21208" y="3813048"/>
            <a:ext cx="457200" cy="457200"/>
          </a:xfrm>
          <a:prstGeom prst="ellipse">
            <a:avLst/>
          </a:prstGeom>
          <a:solidFill>
            <a:srgbClr val="3D6B4F"/>
          </a:solidFill>
          <a:ln/>
        </p:spPr>
      </p:sp>
      <p:pic>
        <p:nvPicPr>
          <p:cNvPr id="13" name="Image 2" descr="/sessions/upbeat-quirky-hypatia/mnt/outputs/soline-decks/assets/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3872484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84048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de qualification de leads par IA (chat, photos, géolocalisation)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21208" y="4681728"/>
            <a:ext cx="457200" cy="457200"/>
          </a:xfrm>
          <a:prstGeom prst="ellipse">
            <a:avLst/>
          </a:prstGeom>
          <a:solidFill>
            <a:srgbClr val="3D6B4F"/>
          </a:solidFill>
          <a:ln/>
        </p:spPr>
      </p:sp>
      <p:pic>
        <p:nvPicPr>
          <p:cNvPr id="16" name="Image 3" descr="/sessions/upbeat-quirky-hypatia/mnt/outputs/soline-decks/assets/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4741164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470916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 vocale IA (téléphonie + agent vocal)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548640" y="5715000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1C1B1A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822960" y="57150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Stade actuel : produit (MVP) fonctionnel — phase de lancement commercial à engager.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prochaines étapes (à ajuster avec l’équipe)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66928" cy="566928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15568" y="2743200"/>
            <a:ext cx="2320976" cy="0"/>
          </a:xfrm>
          <a:prstGeom prst="line">
            <a:avLst/>
          </a:prstGeom>
          <a:noFill/>
          <a:ln w="19050">
            <a:solidFill>
              <a:srgbClr val="DDD9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4612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Lancement commercial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94760"/>
            <a:ext cx="2430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artisans clients, retours produit, ajustements tarifaires.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36544" y="2468880"/>
            <a:ext cx="566928" cy="566928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36544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003472" y="2743200"/>
            <a:ext cx="2320976" cy="0"/>
          </a:xfrm>
          <a:prstGeom prst="line">
            <a:avLst/>
          </a:prstGeom>
          <a:noFill/>
          <a:ln w="19050">
            <a:solidFill>
              <a:srgbClr val="DDD9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36544" y="324612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Partenariats locaux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36544" y="3794760"/>
            <a:ext cx="2430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Communes, CAPEB et CCI locales comme relais de confiance.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24448" y="2468880"/>
            <a:ext cx="566928" cy="566928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24448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891376" y="2743200"/>
            <a:ext cx="2320976" cy="0"/>
          </a:xfrm>
          <a:prstGeom prst="line">
            <a:avLst/>
          </a:prstGeom>
          <a:noFill/>
          <a:ln w="19050">
            <a:solidFill>
              <a:srgbClr val="DDD9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24448" y="324612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par IA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24448" y="3794760"/>
            <a:ext cx="2430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photos jointes aux demandes de devis.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12351" y="2468880"/>
            <a:ext cx="566928" cy="566928"/>
          </a:xfrm>
          <a:prstGeom prst="ellipse">
            <a:avLst/>
          </a:prstGeom>
          <a:solidFill>
            <a:srgbClr val="AA4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12351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212351" y="324612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212351" y="3794760"/>
            <a:ext cx="2430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zones géographiques, nouveaux corps de métier.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L’ÉQUIPE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[À compléter avec les profils fondateurs]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20469" y="2377440"/>
            <a:ext cx="1188720" cy="1188720"/>
          </a:xfrm>
          <a:prstGeom prst="ellipse">
            <a:avLst/>
          </a:prstGeom>
          <a:solidFill>
            <a:srgbClr val="EFEFED"/>
          </a:solidFill>
          <a:ln w="12700">
            <a:solidFill>
              <a:srgbClr val="CFC9BF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20469" y="2377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8A84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3332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[Nom Prénom]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3332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[Poste — parcours / expertise]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01488" y="2377440"/>
            <a:ext cx="1188720" cy="1188720"/>
          </a:xfrm>
          <a:prstGeom prst="ellipse">
            <a:avLst/>
          </a:prstGeom>
          <a:solidFill>
            <a:srgbClr val="EFEFED"/>
          </a:solidFill>
          <a:ln w="12700">
            <a:solidFill>
              <a:srgbClr val="CFC9BF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5501488" y="2377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8A84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429658" y="3794760"/>
            <a:ext cx="3332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[Nom Prénom]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29658" y="4251960"/>
            <a:ext cx="3332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[Poste — parcours / expertise]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82506" y="2377440"/>
            <a:ext cx="1188720" cy="1188720"/>
          </a:xfrm>
          <a:prstGeom prst="ellipse">
            <a:avLst/>
          </a:prstGeom>
          <a:solidFill>
            <a:srgbClr val="EFEFED"/>
          </a:solidFill>
          <a:ln w="12700">
            <a:solidFill>
              <a:srgbClr val="CFC9BF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9382506" y="2377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8A84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310677" y="3794760"/>
            <a:ext cx="3332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[Nom Prénom]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10677" y="4251960"/>
            <a:ext cx="3332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[Poste — parcours / expertise]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à remplir avant tout envoi à un investisseur : parcours, expertise BTP / tech / IA de chaque fondateur.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A4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RECHERCHONS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[Montant à préciser] pour accélérer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4769" y="217170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7" name="Image 0" descr="/sessions/upbeat-quirky-hypatia/mnt/outputs/soline-decks/assets/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9585" y="2296516"/>
            <a:ext cx="710489" cy="71048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310128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Recrutement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886200"/>
            <a:ext cx="33323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les équipes produit, technique et commerciale.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15788" y="217170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1" name="Image 1" descr="/sessions/upbeat-quirky-hypatia/mnt/outputs/soline-decks/assets/char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603" y="2296516"/>
            <a:ext cx="710489" cy="71048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29658" y="3310128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429658" y="3886200"/>
            <a:ext cx="33323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locaux (communes, CAPEB, CCI) et déploiement commercial.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496806" y="2171700"/>
            <a:ext cx="960120" cy="96012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15" name="Image 2" descr="/sessions/upbeat-quirky-hypatia/mnt/outputs/soline-decks/assets/robo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622" y="2296516"/>
            <a:ext cx="710489" cy="71048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10677" y="3310128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R&amp;D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310677" y="3886200"/>
            <a:ext cx="33323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photos par IA, extension du funnel de leads.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recherché et répartition précise de l’utilisation des fonds à compléter avec les fondateurs.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547208" y="1737360"/>
            <a:ext cx="1097280" cy="1097280"/>
          </a:xfrm>
          <a:prstGeom prst="ellipse">
            <a:avLst/>
          </a:prstGeom>
          <a:solidFill>
            <a:srgbClr val="AA4E24"/>
          </a:solidFill>
          <a:ln/>
        </p:spPr>
      </p:sp>
      <p:pic>
        <p:nvPicPr>
          <p:cNvPr id="5" name="Image 0" descr="/sessions/upbeat-quirky-hypatia/mnt/outputs/soline-decks/assets/rock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9854" y="1880006"/>
            <a:ext cx="811987" cy="8119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310896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Devenir le système d’exploitation de référence de l’artisanat du bâtiment en France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4343400"/>
            <a:ext cx="8534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8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Avec, à terme, une extension à d’autres corps de métier et à de nouvelles zones géographiques.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94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solinebtp.fr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43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[Contact fondateur — e-mail à compléter]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2026-09-12T14:28:58Z</dcterms:created>
  <dcterms:modified xsi:type="dcterms:W3CDTF">2026-09-12T14:28:58Z</dcterms:modified>
</cp:coreProperties>
</file>