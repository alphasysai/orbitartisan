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image" Target="../media/image-17-1.png"/><Relationship Id="rId8" Type="http://schemas.openxmlformats.org/officeDocument/2006/relationships/image" Target="../media/image-1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COLLECTIVITÉS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Soline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l’artisanat local face à la transition numérique et réglementaire.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454335" y="822960"/>
            <a:ext cx="914400" cy="91440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6" name="Image 0" descr="/sessions/upbeat-quirky-hypatia/mnt/outputs/soline-decks/assets/cit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9418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solinebtp.fr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tissu artisanal essentiel à votre territoire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49642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build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458" y="2159356"/>
            <a:ext cx="710489" cy="7104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l’emploi local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entreprises qui recrutent et forment sur le territoire, souvent en famille.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60406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tool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221" y="2159356"/>
            <a:ext cx="710489" cy="71048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04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L’entretien du bâti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459404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eux qui rénovent, dépannent et entretiennent le logement des habitants.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71170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city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85" y="2159356"/>
            <a:ext cx="710489" cy="71048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0168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L’attractivité du territoire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6370168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commerce et un artisanat locaux dynamiques, visibles et bien outillés.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981933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9" name="Image 3" descr="/sessions/upbeat-quirky-hypatia/mnt/outputs/soline-decks/assets/handshak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749" y="2159356"/>
            <a:ext cx="710489" cy="71048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80931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service de confiance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280931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professionnels connus, plutôt que des intermédiaires nationaux anonymes.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secteur central pour la vie locale — et qui a besoin d’être accompagné dans sa transition numérique.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fracture numérique chez vos artisans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cha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outils dispersés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WhatsApp, agenda papier : peu de temps pour se moderniser seul.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clo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7959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temps à perdre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les chantiers, l’administratif passe souvent en dernier.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73946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glob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795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Peu de présence en ligne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d’artisans locaux restent invisibles pour de nouveaux clients.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CHOC RÉGLEMENTAIRE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réforme qui arrive vite, pour tout le monde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72888" cy="3474720"/>
          </a:xfrm>
          <a:prstGeom prst="roundRect">
            <a:avLst>
              <a:gd name="adj" fmla="val 2105"/>
            </a:avLst>
          </a:prstGeom>
          <a:solidFill>
            <a:srgbClr val="EFEF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454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4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 septembre 2026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obligatoire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37560"/>
            <a:ext cx="4541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artisans, y compris les plus petites structures, doivent pouvoir recevoir une facture électronique.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70168" y="1920240"/>
            <a:ext cx="5272888" cy="3474720"/>
          </a:xfrm>
          <a:prstGeom prst="roundRect">
            <a:avLst>
              <a:gd name="adj" fmla="val 2105"/>
            </a:avLst>
          </a:prstGeom>
          <a:solidFill>
            <a:srgbClr val="EFEF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35928" y="2286000"/>
            <a:ext cx="454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4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 septembre 2027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735928" y="283464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généralisée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735928" y="3337560"/>
            <a:ext cx="4541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artisan devra émettre ses factures au format électronique conforme, sans exception.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accompagnement, ce sont les artisans les plus isolés — souvent les plus âgés ou les moins équipés — qui risquent d’être pris au dépourvu.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calendrier officiel de la réforme de la facturation électronique (DGFiP).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EN CHIFFRES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sont eux qui interviennent chez vos administrés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9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440 000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3323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du bâtiment en France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29658" y="265176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9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94 %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4429658" y="3749040"/>
            <a:ext cx="33323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des TPE artisanales de moins de 10 salariés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310677" y="265176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9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≈12 200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3749040"/>
            <a:ext cx="33323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détruits en 2025 dans les entreprises du bâtiment de moins de 10 salariés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secteur fragile, à un moment charnière — où un accompagnement local peut faire la différence.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FFB (2025), CAPEB — conjoncture de l’artisanat du bâtiment (2025-2026).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PROPOSE SOLINE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bureau digital complet, pensé pour l’artisan seul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85998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invoic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700" y="2354123"/>
            <a:ext cx="778154" cy="7781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&amp; factures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78033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0" name="Image 1" descr="/sessions/upbeat-quirky-hypatia/mnt/outputs/soline-decks/assets/cha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35" y="2354123"/>
            <a:ext cx="778154" cy="7781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03515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570068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3" name="Image 2" descr="/sessions/upbeat-quirky-hypatia/mnt/outputs/soline-decks/assets/glob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770" y="2354123"/>
            <a:ext cx="778154" cy="77815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95550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en ligne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widget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862103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6" name="Image 3" descr="/sessions/upbeat-quirky-hypatia/mnt/outputs/soline-decks/assets/headse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805" y="2354123"/>
            <a:ext cx="778154" cy="7781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87585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 IA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10154138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9" name="Image 4" descr="/sessions/upbeat-quirky-hypatia/mnt/outputs/soline-decks/assets/gavel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0840" y="2354123"/>
            <a:ext cx="778154" cy="77815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79620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Recouvrement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impayés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" y="502920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application, accessible depuis un téléphone comme un ordinateur — sans compétence technique requise.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VOS ARTISANS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devis et factures en quelques clics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c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devis en 2 minutes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main, en dictant, ou même depuis un appel reçu en son absence.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7959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automatique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facture est générée au format légal, sans démarche supplémentaire.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73946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eur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795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en ligne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règle par carte, l’artisan est payé plus vite.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 AU TÉLÉPHONE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artisans ne ratent plus un appel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2148840"/>
            <a:ext cx="1737360" cy="17373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heads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857" y="2374697"/>
            <a:ext cx="1285646" cy="128564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74720" y="2011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artisan seul sur un chantier ne peut pas toujours décrocher. Soline répond à sa place.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926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 vocal accueille l’habitant qui appelle, comprend sa demande, et peut préparer un brouillon de devis que l’artisan valide ensuite lui-même.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42062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concret pour vos administrés : moins d’appels sans réponse, un artisan local plus facile à joindre.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BÉNÉFICE POUR LE TERRITOIRE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Garder la mise en relation dans votre bassin de vie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11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habitant décrit son besoin en chat avec l’IA, sans créer de compte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803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joint des photos et indique sa localisation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490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une fourchette de prix indicative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6177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 le met en relation avec 2 à 3 artisans du secteur — jamais plus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06640" y="201168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C1B1A"/>
          </a:solidFill>
          <a:ln/>
        </p:spPr>
      </p:sp>
      <p:sp>
        <p:nvSpPr>
          <p:cNvPr id="19" name="Shape 17"/>
          <p:cNvSpPr/>
          <p:nvPr/>
        </p:nvSpPr>
        <p:spPr>
          <a:xfrm>
            <a:off x="9075420" y="2263140"/>
            <a:ext cx="868680" cy="8686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20" name="Image 0" descr="/sessions/upbeat-quirky-hypatia/mnt/outputs/soline-decks/assets/cit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348" y="2376068"/>
            <a:ext cx="642823" cy="64282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8952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L’activité reste locale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3931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aux grandes plateformes nationales de mise en relation, Soline ne redirige que vers des artisans réellement inscrits sur le territoire.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LOCALE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artisan visible en ligne, sans effort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glob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vitrine en ligne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 automatiquement, sans compétence web requise.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stor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7959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widget pour son site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L’artisan qui a déjà un site peut y ajouter le même assistant de devis.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73946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795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Trouvé plus facilement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habitants retrouvent leurs artisans locaux par métier et par secteur.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LA TRÉSORERIE LOCALE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impayés mieux gérés, moins de TPE fragilisées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gave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Relance encadrée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demeure par lettre recommandée, un envoi offert chaque mois.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handshak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7959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Cabinet partenaire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nécessaire, prise en charge par un cabinet de recouvrement, sans démarche pour l’artisan.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73946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795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trésorerie protégée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factures qui traînent, moins de TPE locales en difficulté.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hébergées et traitées sérieusement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Hébergement en Europe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des artisans et des habitants restent sur des infrastructures européennes.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eur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7959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sécurisé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passent par Stripe, acteur reconnu du paiement en ligne.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73946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795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du RGPD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traitements de données personnelles suivent les principes du RGPD.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COLLECTIVITÉ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votre commune peut y gagner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49642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rock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458" y="2159356"/>
            <a:ext cx="710489" cy="7104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image de modernité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territoire qui accompagne concrètement ses artisans dans leur transition numérique.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60406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handshak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221" y="2159356"/>
            <a:ext cx="710489" cy="71048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04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soutien concret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459404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coût direct pour la commune, un outil qui aide vos artisans à se moderniser.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71170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85" y="2159356"/>
            <a:ext cx="710489" cy="71048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0168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service aux habitants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6370168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mise en relation simple et fiable avec des professionnels du territoire.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981933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9" name="Image 3" descr="/sessions/upbeat-quirky-hypatia/mnt/outputs/soline-decks/assets/char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749" y="2159356"/>
            <a:ext cx="710489" cy="71048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80931" y="322326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tissu économique valorisé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280931" y="400050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artisans locaux plus visibles, plus outillés, plus pérennes.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DE COLLABORATION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formats de partenariat à construire ensemble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1208" y="2075688"/>
            <a:ext cx="457200" cy="45720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2135124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10312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le dispositif sur le site de la commune ou le bulletin municipal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" y="2944368"/>
            <a:ext cx="457200" cy="45720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0" name="Image 1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300380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97180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Soline lors d’un évènement dédié aux artisans locaux, avec la CCI ou la CAPEB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21208" y="3813048"/>
            <a:ext cx="457200" cy="45720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3" name="Image 2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872484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84048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avant les artisans inscrits auprès des habitants qui recherchent un professionnel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21208" y="4681728"/>
            <a:ext cx="457200" cy="45720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6" name="Image 3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4741164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7091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un tarif préférentiel pour les artisans du territoire, à négocier ensemble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pistes sont des points de départ, à adapter au fonctionnement et aux priorités de votre collectivité.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CONCRÈTEMENT, POUR UN HABITANT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besoin de travaux ? Une réponse en quelques minutes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09442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09442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son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en chat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401763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9765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19765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858963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Joindre des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712086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730088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30088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69286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Indiquer sa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022409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40411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0411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479609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une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fourchette indicative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332732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350734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350734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789932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mis en relation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2-3 artisans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93776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compte n’est nécessaire pour démarrer : l’habitant peut essayer sans engagement.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CONCRÈTEMENT, POUR UN ARTISAN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demande au devis envoyé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98232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98232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243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de la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qualifiée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979344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86136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86136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436544" y="3566160"/>
            <a:ext cx="243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et budget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disponibles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867248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74040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40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3566160"/>
            <a:ext cx="243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de devis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pré-rempli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755151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61943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61943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212351" y="3566160"/>
            <a:ext cx="243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et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en un clic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93776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L’artisan garde la main sur chaque devis avant envoi : rien ne part automatiquement en son nom.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PEUT EN BÉNÉFICIER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 les corps de métier du bâtiment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7" name="Shape 5"/>
          <p:cNvSpPr/>
          <p:nvPr/>
        </p:nvSpPr>
        <p:spPr>
          <a:xfrm>
            <a:off x="1478242" y="224028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8" name="Image 0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452" y="2323490"/>
            <a:ext cx="473659" cy="47365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97180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Plombiers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13684" y="210312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286" y="224028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2" name="Image 1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496" y="232349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5124" y="297180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Électriciens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78728" y="210312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8330" y="224028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6" name="Image 2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540" y="232349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0168" y="297180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Couvreurs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43771" y="210312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73373" y="224028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20" name="Image 3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584" y="232349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35211" y="297180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Maçons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379476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23" name="Shape 17"/>
          <p:cNvSpPr/>
          <p:nvPr/>
        </p:nvSpPr>
        <p:spPr>
          <a:xfrm>
            <a:off x="1478242" y="393192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24" name="Image 4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452" y="4015130"/>
            <a:ext cx="473659" cy="47365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0080" y="4663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Menuisiers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3413684" y="379476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27" name="Shape 20"/>
          <p:cNvSpPr/>
          <p:nvPr/>
        </p:nvSpPr>
        <p:spPr>
          <a:xfrm>
            <a:off x="4343286" y="393192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28" name="Image 5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6496" y="4015130"/>
            <a:ext cx="473659" cy="47365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505124" y="4663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Peintres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278728" y="379476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31" name="Shape 23"/>
          <p:cNvSpPr/>
          <p:nvPr/>
        </p:nvSpPr>
        <p:spPr>
          <a:xfrm>
            <a:off x="7208330" y="393192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32" name="Image 6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1540" y="4015130"/>
            <a:ext cx="473659" cy="473659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370168" y="4663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Chauffagistes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9143771" y="3794760"/>
            <a:ext cx="2499284" cy="1371600"/>
          </a:xfrm>
          <a:prstGeom prst="roundRect">
            <a:avLst>
              <a:gd name="adj" fmla="val 4667"/>
            </a:avLst>
          </a:prstGeom>
          <a:solidFill>
            <a:srgbClr val="EFEFED"/>
          </a:solidFill>
          <a:ln/>
        </p:spPr>
      </p:sp>
      <p:sp>
        <p:nvSpPr>
          <p:cNvPr id="35" name="Shape 26"/>
          <p:cNvSpPr/>
          <p:nvPr/>
        </p:nvSpPr>
        <p:spPr>
          <a:xfrm>
            <a:off x="10073373" y="3931920"/>
            <a:ext cx="640080" cy="6400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36" name="Image 7" descr="/sessions/upbeat-quirky-hypatia/mnt/outputs/soline-decks/assets/wrench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6584" y="4015130"/>
            <a:ext cx="473659" cy="473659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235211" y="4663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Carreleurs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bien d’autres — l’application s’adapte au métier de chaque artisan inscrit.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ENSEMBLE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Aider vos artisans à être prêts pour 2026-2027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intégrée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facture émise via Soline respecte déjà le format électronique attendu.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graduationC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7959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outil, pas une formation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L’artisan n’a rien à apprendre de complexe : la conformité est automatique.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73946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bullhor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795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communication facilitée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commune peut relayer un outil concret plutôt qu’une simple mise en garde réglementaire.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D’AVANCEMENT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produit fonctionnel, prêt à être testé localement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1208" y="207568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7" name="Image 0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2135124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10312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artisan : devis, factures conformes, rendez-vous, messagerie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" y="294436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10" name="Image 1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300380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97180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publique par artisan, avec widget embarquable sur son propre site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21208" y="381304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13" name="Image 2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872484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84048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de demande d’estimation pour les habitants (chat, photos, géolocalisation)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21208" y="468172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16" name="Image 3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4741164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7091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 vocale IA pour ne plus manquer un appel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571500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1C1B1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822960" y="57150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Stade actuel : produit (MVP) fonctionnel — nous cherchons des territoires pilotes.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PROPOSONS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partenariat pilote, sans engagement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seedl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phase test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artisans locaux volontaires essaient Soline pendant plusieurs mois.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cha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7959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point d’étape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bilan partagé avec la commune sur l’usage et les retours des artisans.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73946" y="214884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handshak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795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8328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cadre à définir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4160520"/>
            <a:ext cx="33323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Modalités de communication et d’éventuel soutien à préciser ensemble.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montage juridique ou financier n’est présupposé ici : ce sont des pistes de travail à discuter avec vos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solinebtp.fr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 — e-mail à compléter]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2026-09-12T14:31:51Z</dcterms:created>
  <dcterms:modified xsi:type="dcterms:W3CDTF">2026-09-12T14:31:51Z</dcterms:modified>
</cp:coreProperties>
</file>